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4" r:id="rId4"/>
    <p:sldId id="258" r:id="rId5"/>
    <p:sldId id="274" r:id="rId6"/>
    <p:sldId id="259" r:id="rId7"/>
    <p:sldId id="260" r:id="rId8"/>
    <p:sldId id="261" r:id="rId9"/>
    <p:sldId id="262" r:id="rId10"/>
    <p:sldId id="263" r:id="rId11"/>
    <p:sldId id="264" r:id="rId12"/>
    <p:sldId id="269" r:id="rId13"/>
    <p:sldId id="276" r:id="rId14"/>
    <p:sldId id="270" r:id="rId15"/>
    <p:sldId id="265" r:id="rId16"/>
    <p:sldId id="279" r:id="rId17"/>
    <p:sldId id="281" r:id="rId18"/>
    <p:sldId id="282" r:id="rId19"/>
    <p:sldId id="277" r:id="rId20"/>
    <p:sldId id="273" r:id="rId21"/>
    <p:sldId id="286" r:id="rId22"/>
    <p:sldId id="284" r:id="rId23"/>
    <p:sldId id="285" r:id="rId24"/>
    <p:sldId id="291" r:id="rId25"/>
    <p:sldId id="288" r:id="rId26"/>
    <p:sldId id="289" r:id="rId27"/>
    <p:sldId id="290" r:id="rId28"/>
    <p:sldId id="292" r:id="rId29"/>
    <p:sldId id="287" r:id="rId30"/>
    <p:sldId id="293" r:id="rId3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17E6-32CF-4E96-8ADF-881994C2F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A05273-DA4F-4B40-9CBA-7B1509F98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7CDD5-F1A0-4D0C-8925-71AC562A1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CC4C3-17D8-4C1C-88BB-A022B5D1A62A}" type="datetimeFigureOut">
              <a:rPr lang="it-IT" smtClean="0"/>
              <a:t>11/07/2024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B61E-81F1-4D05-8A18-FC2DEEFFA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3C785-3267-4997-9A09-00DE4572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27A5-6250-4148-84B8-DE430994B8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7292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B54E-065A-44BF-B8AC-C0A13BDD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ED557-5912-4B7A-B91E-5467EF53F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35E5D-13AC-444F-94BB-4917D2F5E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CC4C3-17D8-4C1C-88BB-A022B5D1A62A}" type="datetimeFigureOut">
              <a:rPr lang="it-IT" smtClean="0"/>
              <a:t>11/07/2024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8F2E0-231D-4530-BEDF-745DE5B3E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B8342-C3B9-4C3A-A9BD-FB042C01A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27A5-6250-4148-84B8-DE430994B8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1663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60730-4972-42A1-AE7A-63B1AB2DD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E93E9-A0A5-4FF7-8050-755B48AE2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1331-FFD9-45BC-A046-EFE59E78F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CC4C3-17D8-4C1C-88BB-A022B5D1A62A}" type="datetimeFigureOut">
              <a:rPr lang="it-IT" smtClean="0"/>
              <a:t>11/07/2024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A89DD-7251-4F7A-A469-6837CEDB6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9B7DB-B4AC-4474-9516-2C0CE809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27A5-6250-4148-84B8-DE430994B8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3020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74E8C-0E29-4F80-879E-16A7D66CB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E32E1-66D5-4B17-A3AD-ECA349254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C67CD7-3485-4321-A0B4-D8B4E517D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5C099-A6EC-4546-861E-299CBBFA9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CC4C3-17D8-4C1C-88BB-A022B5D1A62A}" type="datetimeFigureOut">
              <a:rPr lang="it-IT" smtClean="0"/>
              <a:t>11/07/2024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740E2A-55EB-452E-A1FB-F037D4F15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FE99A-A94D-4E7E-99FE-565CF488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27A5-6250-4148-84B8-DE430994B8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0843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2A4AC-E7EA-40C0-925B-EB9F2F1F8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27E21-0BB0-42D3-8513-A04F0F7B4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80CEF-6A53-4E68-8022-2025518F0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F73EB-8640-4900-BBC1-ADAE64B2C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EE5619-447C-4FFC-B8DA-48925DFAC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D8E1D1-8455-4D9F-B600-4E82F6DE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CC4C3-17D8-4C1C-88BB-A022B5D1A62A}" type="datetimeFigureOut">
              <a:rPr lang="it-IT" smtClean="0"/>
              <a:t>11/07/2024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ADAA5-C77B-49BC-BA44-9CAA59B5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4B1EE-8726-47BE-B5C2-A66DDAC2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27A5-6250-4148-84B8-DE430994B8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765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EFEB6-C33B-4701-897F-5113402A7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C13206-531A-46EA-BB50-3985BC5B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CC4C3-17D8-4C1C-88BB-A022B5D1A62A}" type="datetimeFigureOut">
              <a:rPr lang="it-IT" smtClean="0"/>
              <a:t>11/07/2024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33EBA-A4B5-44DA-BC2C-E089F423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36AD5-C33A-44DF-838C-BC1CFED87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27A5-6250-4148-84B8-DE430994B8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3555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DDC1F-0ABF-4C59-AB42-C7894E3FF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CC4C3-17D8-4C1C-88BB-A022B5D1A62A}" type="datetimeFigureOut">
              <a:rPr lang="it-IT" smtClean="0"/>
              <a:t>11/07/2024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4725BF-7DA3-4198-B000-B60EBB110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1C3FF-5C59-4FE7-8CA8-1885E63F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27A5-6250-4148-84B8-DE430994B8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371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E6F9B-4218-4F4C-A72C-2DB61C859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58086-8BE6-4534-B013-CE7808883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E1240-C78D-4592-AC40-FFDD27A2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46427-1FD8-4910-8A3F-A31BF7662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CC4C3-17D8-4C1C-88BB-A022B5D1A62A}" type="datetimeFigureOut">
              <a:rPr lang="it-IT" smtClean="0"/>
              <a:t>11/07/2024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E1C4F-6BFA-4FB0-82E1-2AC30D49E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8E233-B357-4706-A9E5-C59426D0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27A5-6250-4148-84B8-DE430994B8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356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5046B-31FA-417D-9C4D-6BD4FFC1E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0555B6-4C3B-49DA-8481-63272AA9E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8C2A40-E27B-48CA-9736-B52EEA69E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5CA0A-E66F-479A-9B0A-5BC65EDC3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CC4C3-17D8-4C1C-88BB-A022B5D1A62A}" type="datetimeFigureOut">
              <a:rPr lang="it-IT" smtClean="0"/>
              <a:t>11/07/2024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01557-419E-4768-9639-0432C5859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B3C46-E579-4DA4-86C7-0E38509CE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27A5-6250-4148-84B8-DE430994B8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5035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00CA4-9F5B-4D74-B8F7-1C8ED1DE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281AC-8AEA-42D0-88C1-4EED9B4A5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EA4C6-E556-48B6-8D43-B02431C3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CC4C3-17D8-4C1C-88BB-A022B5D1A62A}" type="datetimeFigureOut">
              <a:rPr lang="it-IT" smtClean="0"/>
              <a:t>11/07/2024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4F3FB-9DDB-442A-8311-4DFDB94D9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1C804-FB9A-4FE2-8707-B2F445B40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27A5-6250-4148-84B8-DE430994B8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245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99D5C3-74CB-4887-9F07-70B9D166CC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B541A-95C7-4539-B06B-0CF6A0EEE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3980-906A-4146-B35B-587093572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CC4C3-17D8-4C1C-88BB-A022B5D1A62A}" type="datetimeFigureOut">
              <a:rPr lang="it-IT" smtClean="0"/>
              <a:t>11/07/2024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B26C1-B92F-46FD-917C-0AF66C9D5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7EE95-25DB-45A1-AC32-FB8DBB82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227A5-6250-4148-84B8-DE430994B8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303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450346-61EB-4B25-85AE-791344BC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9AC1B-83D0-48A2-A5EB-3382CDD97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754FB-ED7A-4C2A-AE2E-D0691E637D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CC4C3-17D8-4C1C-88BB-A022B5D1A62A}" type="datetimeFigureOut">
              <a:rPr lang="it-IT" smtClean="0"/>
              <a:t>11/07/2024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31C05-BD83-40B3-BEB0-91452442D9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206B2-2B20-41A9-84D3-A3733C7A95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27A5-6250-4148-84B8-DE430994B8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1013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lobalforestwatch.org/" TargetMode="External"/><Relationship Id="rId2" Type="http://schemas.openxmlformats.org/officeDocument/2006/relationships/hyperlink" Target="http://www.kaggle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19529-93BF-4794-B528-5BD8DA212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Global </a:t>
            </a:r>
            <a:r>
              <a:rPr lang="it-IT" b="1" dirty="0" err="1"/>
              <a:t>environmental</a:t>
            </a:r>
            <a:r>
              <a:rPr lang="it-IT" b="1" dirty="0"/>
              <a:t> situation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EB916-EE09-4AD1-BB03-BB1D0A958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2333" y="3720571"/>
            <a:ext cx="9144000" cy="1655762"/>
          </a:xfrm>
        </p:spPr>
        <p:txBody>
          <a:bodyPr/>
          <a:lstStyle/>
          <a:p>
            <a:r>
              <a:rPr lang="en-US" dirty="0"/>
              <a:t>We can solve everything in a year?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98518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CDCD6-6E29-41E4-A838-05860D35C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Current</a:t>
            </a:r>
            <a:r>
              <a:rPr lang="it-IT" b="1" dirty="0"/>
              <a:t> situation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50677-0284-4EA8-AA7C-E9FCF8141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Global overview of the health of the planet</a:t>
            </a:r>
          </a:p>
          <a:p>
            <a:r>
              <a:rPr lang="en-US" dirty="0"/>
              <a:t>Water</a:t>
            </a:r>
          </a:p>
          <a:p>
            <a:r>
              <a:rPr lang="en-US" dirty="0"/>
              <a:t>Earth</a:t>
            </a:r>
          </a:p>
          <a:p>
            <a:r>
              <a:rPr lang="en-US" dirty="0"/>
              <a:t>Air</a:t>
            </a:r>
          </a:p>
          <a:p>
            <a:r>
              <a:rPr lang="en-US" dirty="0"/>
              <a:t>Impact on the environment</a:t>
            </a:r>
            <a:endParaRPr lang="it-IT" dirty="0"/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1686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2AEC-ACFC-4E68-A6A8-7B0A43D7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Can we solve the problem in 1 year?</a:t>
            </a:r>
            <a:endParaRPr lang="it-I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BCD13-0CE3-4BA5-A1F4-0C42E7845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Assumptions</a:t>
            </a:r>
            <a:endParaRPr lang="it-IT" dirty="0"/>
          </a:p>
          <a:p>
            <a:r>
              <a:rPr lang="it-IT" dirty="0" err="1"/>
              <a:t>Practical</a:t>
            </a:r>
            <a:r>
              <a:rPr lang="it-IT" dirty="0"/>
              <a:t> Actions</a:t>
            </a:r>
          </a:p>
          <a:p>
            <a:r>
              <a:rPr lang="it-IT" dirty="0"/>
              <a:t>Financial impact</a:t>
            </a:r>
          </a:p>
          <a:p>
            <a:r>
              <a:rPr lang="it-IT" dirty="0" err="1"/>
              <a:t>Conclusions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43599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B0CBC-7027-4D64-A506-8460AF51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DCB94-BEB4-49CA-A322-A3B8C1ED9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/>
              <a:t>Pollution</a:t>
            </a:r>
            <a:r>
              <a:rPr lang="it-IT" dirty="0"/>
              <a:t> </a:t>
            </a:r>
            <a:r>
              <a:rPr lang="it-IT" dirty="0" err="1"/>
              <a:t>factors</a:t>
            </a:r>
            <a:r>
              <a:rPr lang="it-IT" dirty="0"/>
              <a:t>: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dirty="0" err="1"/>
              <a:t>Vehicle</a:t>
            </a:r>
            <a:r>
              <a:rPr lang="it-IT" dirty="0"/>
              <a:t> </a:t>
            </a:r>
            <a:r>
              <a:rPr lang="it-IT" dirty="0" err="1"/>
              <a:t>emissions</a:t>
            </a:r>
            <a:endParaRPr lang="it-IT" dirty="0"/>
          </a:p>
          <a:p>
            <a:r>
              <a:rPr lang="it-IT" dirty="0"/>
              <a:t>Industry</a:t>
            </a:r>
          </a:p>
          <a:p>
            <a:r>
              <a:rPr lang="it-IT" dirty="0"/>
              <a:t>Energy production</a:t>
            </a:r>
          </a:p>
          <a:p>
            <a:r>
              <a:rPr lang="it-IT" dirty="0" err="1"/>
              <a:t>Agriculture</a:t>
            </a:r>
            <a:endParaRPr lang="it-IT" dirty="0"/>
          </a:p>
          <a:p>
            <a:r>
              <a:rPr lang="it-IT" dirty="0"/>
              <a:t>Construction</a:t>
            </a:r>
          </a:p>
        </p:txBody>
      </p:sp>
    </p:spTree>
    <p:extLst>
      <p:ext uri="{BB962C8B-B14F-4D97-AF65-F5344CB8AC3E}">
        <p14:creationId xmlns:p14="http://schemas.microsoft.com/office/powerpoint/2010/main" val="939032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83612-70A4-436B-ABEB-78FFC68C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Air </a:t>
            </a:r>
            <a:r>
              <a:rPr lang="it-IT" b="1" dirty="0" err="1"/>
              <a:t>Pollution</a:t>
            </a:r>
            <a:endParaRPr lang="it-IT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FE41D3-B262-437F-ABDE-B61825516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76" y="1690688"/>
            <a:ext cx="6110342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9B0054-4D4D-432B-B829-27B3ACECC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818" y="1690688"/>
            <a:ext cx="55893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311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0B54-AD41-4E83-9BAC-6FE23F77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Vehicle</a:t>
            </a:r>
            <a:r>
              <a:rPr lang="it-IT" b="1" dirty="0"/>
              <a:t> </a:t>
            </a:r>
            <a:r>
              <a:rPr lang="it-IT" b="1" dirty="0" err="1"/>
              <a:t>emissions</a:t>
            </a:r>
            <a:endParaRPr lang="it-IT" b="1" dirty="0"/>
          </a:p>
        </p:txBody>
      </p:sp>
      <p:pic>
        <p:nvPicPr>
          <p:cNvPr id="2050" name="Picture 2" descr="Output image">
            <a:extLst>
              <a:ext uri="{FF2B5EF4-FFF2-40B4-BE49-F238E27FC236}">
                <a16:creationId xmlns:a16="http://schemas.microsoft.com/office/drawing/2014/main" id="{FE81699F-4A94-45DB-AE76-7AD170E02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39" y="2032133"/>
            <a:ext cx="5598461" cy="380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utput image">
            <a:extLst>
              <a:ext uri="{FF2B5EF4-FFF2-40B4-BE49-F238E27FC236}">
                <a16:creationId xmlns:a16="http://schemas.microsoft.com/office/drawing/2014/main" id="{BD61B611-DB14-4799-945D-04BA672C8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837" y="1938868"/>
            <a:ext cx="6255224" cy="349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806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0AAA-2B80-4BEC-9E44-5F7D4397E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Industrial </a:t>
            </a:r>
            <a:r>
              <a:rPr lang="it-IT" b="1" dirty="0" err="1"/>
              <a:t>Pollution</a:t>
            </a:r>
            <a:endParaRPr lang="it-IT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2269BA-E181-4CAE-9AB2-80D012D62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61" y="1761066"/>
            <a:ext cx="4977406" cy="4100511"/>
          </a:xfrm>
          <a:prstGeom prst="rect">
            <a:avLst/>
          </a:prstGeom>
        </p:spPr>
      </p:pic>
      <p:pic>
        <p:nvPicPr>
          <p:cNvPr id="3074" name="Picture 2" descr="Output image">
            <a:extLst>
              <a:ext uri="{FF2B5EF4-FFF2-40B4-BE49-F238E27FC236}">
                <a16:creationId xmlns:a16="http://schemas.microsoft.com/office/drawing/2014/main" id="{00A671EB-40CC-4864-9982-64932DC85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339" y="1690687"/>
            <a:ext cx="6277093" cy="417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504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83387-EBDB-443C-8C6E-2DCF28249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Energy production</a:t>
            </a:r>
          </a:p>
        </p:txBody>
      </p:sp>
      <p:pic>
        <p:nvPicPr>
          <p:cNvPr id="4098" name="Picture 2" descr="Output image">
            <a:extLst>
              <a:ext uri="{FF2B5EF4-FFF2-40B4-BE49-F238E27FC236}">
                <a16:creationId xmlns:a16="http://schemas.microsoft.com/office/drawing/2014/main" id="{49148F24-1DAB-47EC-8AD0-0DE3FDE04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63" y="1690688"/>
            <a:ext cx="5926330" cy="4730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Output image">
            <a:extLst>
              <a:ext uri="{FF2B5EF4-FFF2-40B4-BE49-F238E27FC236}">
                <a16:creationId xmlns:a16="http://schemas.microsoft.com/office/drawing/2014/main" id="{1A8A3089-D250-47F1-B7E3-B1AA43A15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690688"/>
            <a:ext cx="4911837" cy="4162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1451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35579-37D0-4A7D-8AF3-EC77BFFFF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Agriculture</a:t>
            </a:r>
            <a:endParaRPr lang="it-IT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E7D79B-AC48-49A1-99E6-720AE30A8D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7148" y="1480763"/>
            <a:ext cx="5505027" cy="4530569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6BDCFB00-BB1C-4E62-96C0-699A1EAB8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67" y="1966724"/>
            <a:ext cx="5985933" cy="3558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5216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406AA-C6D2-4D58-B552-F9A967ECA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Construction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3D02745-CE79-47F5-8D72-F8DE52D77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41" y="1690688"/>
            <a:ext cx="6921141" cy="4936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06A7BB75-1C2C-46FD-AAA4-E229CD5C0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8082" y="1690688"/>
            <a:ext cx="4890214" cy="3778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70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4290-C5F4-4F67-9605-7245731F2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Water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520D0-9778-43A6-9227-182B11726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Industry</a:t>
            </a:r>
          </a:p>
          <a:p>
            <a:r>
              <a:rPr lang="it-IT" dirty="0" err="1"/>
              <a:t>Agriculture</a:t>
            </a:r>
            <a:endParaRPr lang="it-IT" dirty="0"/>
          </a:p>
          <a:p>
            <a:r>
              <a:rPr lang="it-IT" dirty="0"/>
              <a:t>Waste</a:t>
            </a:r>
          </a:p>
        </p:txBody>
      </p:sp>
    </p:spTree>
    <p:extLst>
      <p:ext uri="{BB962C8B-B14F-4D97-AF65-F5344CB8AC3E}">
        <p14:creationId xmlns:p14="http://schemas.microsoft.com/office/powerpoint/2010/main" val="1617693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BEBB-5829-4D06-B1C6-4A91B1F94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Water Global </a:t>
            </a:r>
            <a:r>
              <a:rPr lang="it-IT" b="1" dirty="0" err="1"/>
              <a:t>Consumption</a:t>
            </a:r>
            <a:br>
              <a:rPr lang="it-IT" dirty="0"/>
            </a:br>
            <a:endParaRPr lang="it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FD1101-4AC8-4B58-B4BB-21C40985E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2" y="1323601"/>
            <a:ext cx="5556270" cy="44252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F4BD9A-3250-4054-A899-E90782B08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099" y="1323601"/>
            <a:ext cx="6153953" cy="422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90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7ECE-3810-4301-9551-2A5D08477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Industry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DB2932-D13C-47EF-8CBF-979C5CBB6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388" y="817854"/>
            <a:ext cx="5479852" cy="5479852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9C8809F7-14E0-4A4B-98E4-7B558F87B1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86" y="1690688"/>
            <a:ext cx="5816702" cy="3863010"/>
          </a:xfrm>
        </p:spPr>
      </p:pic>
    </p:spTree>
    <p:extLst>
      <p:ext uri="{BB962C8B-B14F-4D97-AF65-F5344CB8AC3E}">
        <p14:creationId xmlns:p14="http://schemas.microsoft.com/office/powerpoint/2010/main" val="3058037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8ED30-CD50-4F33-B9D0-CFEAE2ADA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 err="1"/>
              <a:t>Agricoluture</a:t>
            </a:r>
            <a:br>
              <a:rPr lang="it-IT" dirty="0"/>
            </a:br>
            <a:endParaRPr lang="it-IT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F82482-FB54-4323-82BB-05A5F83254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21" y="1902353"/>
            <a:ext cx="5668609" cy="41571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4C3A64-42BB-4834-9ACF-5AB029C24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0038" y="2015067"/>
            <a:ext cx="6286741" cy="375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01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B3A8-0368-4CEB-BCE7-7774E0239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Earth</a:t>
            </a:r>
            <a:br>
              <a:rPr lang="en-US" dirty="0"/>
            </a:b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01163-753B-45C6-AA61-0C5381EC0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Agriculture</a:t>
            </a:r>
            <a:endParaRPr lang="it-IT" dirty="0"/>
          </a:p>
          <a:p>
            <a:r>
              <a:rPr lang="it-IT" dirty="0"/>
              <a:t>Industry</a:t>
            </a:r>
          </a:p>
          <a:p>
            <a:r>
              <a:rPr lang="it-IT" dirty="0"/>
              <a:t>Waste</a:t>
            </a:r>
          </a:p>
          <a:p>
            <a:r>
              <a:rPr lang="it-IT" dirty="0" err="1"/>
              <a:t>Deforestation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52313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1E19-47C9-46C3-87E5-448DF43EC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7275"/>
          </a:xfrm>
        </p:spPr>
        <p:txBody>
          <a:bodyPr/>
          <a:lstStyle/>
          <a:p>
            <a:r>
              <a:rPr lang="it-IT" b="1" dirty="0"/>
              <a:t>Waste By </a:t>
            </a:r>
            <a:r>
              <a:rPr lang="it-IT" b="1" dirty="0" err="1"/>
              <a:t>Type</a:t>
            </a:r>
            <a:r>
              <a:rPr lang="it-IT" b="1" dirty="0"/>
              <a:t> and </a:t>
            </a:r>
            <a:r>
              <a:rPr lang="it-IT" b="1" dirty="0" err="1"/>
              <a:t>Continent</a:t>
            </a:r>
            <a:endParaRPr lang="it-IT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C319CD-BAD6-410C-92AF-804EAD836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3" y="1512888"/>
            <a:ext cx="6333261" cy="41909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3363BE-0B56-4516-B187-891C6273A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147" y="1512888"/>
            <a:ext cx="5439984" cy="417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754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6B295-FAE0-458A-9AEF-0F69C9845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Plastic from 1950 to 2024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FC3BBAD-84E8-42D8-94FD-EA0663EA92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90688"/>
            <a:ext cx="5181600" cy="4055688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C4B7FF1-DBF0-4D1B-9C9D-4D2D935C7D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64" y="1780335"/>
            <a:ext cx="5292637" cy="4136371"/>
          </a:xfrm>
        </p:spPr>
      </p:pic>
    </p:spTree>
    <p:extLst>
      <p:ext uri="{BB962C8B-B14F-4D97-AF65-F5344CB8AC3E}">
        <p14:creationId xmlns:p14="http://schemas.microsoft.com/office/powerpoint/2010/main" val="3685486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BDA54-9FED-45A2-963C-991069063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latin typeface="arial" panose="020B0604020202020204" pitchFamily="34" charset="0"/>
              </a:rPr>
              <a:t>Deforestation</a:t>
            </a:r>
            <a:endParaRPr lang="it-IT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E67DD97A-A529-44D8-B8C2-F751AF593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955" y="1592076"/>
            <a:ext cx="5209641" cy="4351338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B9286A-9FA6-496C-A4C8-9C1F2998F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23" y="1592076"/>
            <a:ext cx="61394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89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D1CD-B23F-4102-AF9B-2BA6A5BB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Agricolture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B3CCAF-8760-4536-9044-6D029AC19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218" y="1711854"/>
            <a:ext cx="5890220" cy="433123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23BDF7-2121-4931-A5DA-A1D44F6E2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516459"/>
            <a:ext cx="5890219" cy="454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58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26BD-0374-4F18-988C-8908CF0FD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Agriculture</a:t>
            </a:r>
            <a:r>
              <a:rPr lang="it-IT" b="1" dirty="0"/>
              <a:t>: </a:t>
            </a:r>
            <a:r>
              <a:rPr lang="it-IT" b="1" dirty="0" err="1"/>
              <a:t>Nitrous</a:t>
            </a:r>
            <a:r>
              <a:rPr lang="it-IT" b="1" dirty="0"/>
              <a:t> </a:t>
            </a:r>
            <a:r>
              <a:rPr lang="it-IT" b="1" dirty="0" err="1"/>
              <a:t>oxide</a:t>
            </a:r>
            <a:endParaRPr lang="it-IT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B52249-2945-4BE7-8D30-33F475B05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26" y="1723271"/>
            <a:ext cx="6429294" cy="3928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DEAABC-CD2A-4D33-A617-126CB5A22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175" y="1858575"/>
            <a:ext cx="5486825" cy="365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51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29EF-2DA1-45FA-8288-F72FBED0A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Overall impact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8CDFB1-7DFD-4B42-8700-C5C15E140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1442"/>
          </a:xfrm>
        </p:spPr>
        <p:txBody>
          <a:bodyPr>
            <a:normAutofit fontScale="25000" lnSpcReduction="20000"/>
          </a:bodyPr>
          <a:lstStyle/>
          <a:p>
            <a:endParaRPr lang="it-IT" dirty="0"/>
          </a:p>
          <a:p>
            <a:pPr marL="0" indent="0" algn="just">
              <a:buNone/>
            </a:pPr>
            <a:r>
              <a:rPr lang="it-IT" sz="7000" b="1" dirty="0">
                <a:solidFill>
                  <a:srgbClr val="FF0000"/>
                </a:solidFill>
              </a:rPr>
              <a:t>Human Health</a:t>
            </a:r>
          </a:p>
          <a:p>
            <a:pPr algn="just"/>
            <a:r>
              <a:rPr lang="it-IT" sz="8000" dirty="0" err="1"/>
              <a:t>Respiratory</a:t>
            </a:r>
            <a:r>
              <a:rPr lang="it-IT" sz="8000" dirty="0"/>
              <a:t> and </a:t>
            </a:r>
            <a:r>
              <a:rPr lang="it-IT" sz="8000" dirty="0" err="1"/>
              <a:t>cardiovascular</a:t>
            </a:r>
            <a:r>
              <a:rPr lang="it-IT" sz="8000" dirty="0"/>
              <a:t> </a:t>
            </a:r>
            <a:r>
              <a:rPr lang="it-IT" sz="8000" dirty="0" err="1"/>
              <a:t>diseases</a:t>
            </a:r>
            <a:r>
              <a:rPr lang="it-IT" sz="8000" dirty="0"/>
              <a:t>   </a:t>
            </a:r>
          </a:p>
          <a:p>
            <a:pPr algn="just"/>
            <a:r>
              <a:rPr lang="it-IT" sz="8000" dirty="0" err="1"/>
              <a:t>Contamination</a:t>
            </a:r>
            <a:r>
              <a:rPr lang="it-IT" sz="8000" dirty="0"/>
              <a:t> of water </a:t>
            </a:r>
            <a:r>
              <a:rPr lang="it-IT" sz="8000" dirty="0" err="1"/>
              <a:t>resource</a:t>
            </a:r>
            <a:endParaRPr lang="it-IT" sz="8000" dirty="0"/>
          </a:p>
          <a:p>
            <a:pPr algn="just"/>
            <a:r>
              <a:rPr lang="it-IT" sz="8000" dirty="0" err="1"/>
              <a:t>Exposure</a:t>
            </a:r>
            <a:r>
              <a:rPr lang="it-IT" sz="8000" dirty="0"/>
              <a:t> to </a:t>
            </a:r>
            <a:r>
              <a:rPr lang="it-IT" sz="8000" dirty="0" err="1"/>
              <a:t>toxic</a:t>
            </a:r>
            <a:r>
              <a:rPr lang="it-IT" sz="8000" dirty="0"/>
              <a:t> </a:t>
            </a:r>
            <a:r>
              <a:rPr lang="it-IT" sz="8000" dirty="0" err="1"/>
              <a:t>chemicals</a:t>
            </a:r>
            <a:endParaRPr lang="it-IT" sz="8000" dirty="0"/>
          </a:p>
          <a:p>
            <a:pPr algn="ctr"/>
            <a:endParaRPr lang="it-IT" dirty="0"/>
          </a:p>
          <a:p>
            <a:pPr marL="0" indent="0" algn="just">
              <a:buNone/>
            </a:pPr>
            <a:r>
              <a:rPr lang="it-IT" sz="7400" b="1" dirty="0">
                <a:solidFill>
                  <a:schemeClr val="accent6"/>
                </a:solidFill>
              </a:rPr>
              <a:t>Environment</a:t>
            </a:r>
          </a:p>
          <a:p>
            <a:pPr algn="just"/>
            <a:r>
              <a:rPr lang="it-IT" sz="8000" dirty="0" err="1"/>
              <a:t>Deforestation</a:t>
            </a:r>
            <a:r>
              <a:rPr lang="it-IT" sz="8000" dirty="0"/>
              <a:t> and </a:t>
            </a:r>
            <a:r>
              <a:rPr lang="it-IT" sz="8000" dirty="0" err="1"/>
              <a:t>desertification</a:t>
            </a:r>
            <a:endParaRPr lang="it-IT" sz="8000" dirty="0"/>
          </a:p>
          <a:p>
            <a:pPr algn="just"/>
            <a:r>
              <a:rPr lang="it-IT" sz="8000" dirty="0"/>
              <a:t>Ocean </a:t>
            </a:r>
            <a:r>
              <a:rPr lang="it-IT" sz="8000" dirty="0" err="1"/>
              <a:t>acidification</a:t>
            </a:r>
            <a:endParaRPr lang="it-IT" sz="8000" dirty="0"/>
          </a:p>
          <a:p>
            <a:pPr algn="just"/>
            <a:r>
              <a:rPr lang="it-IT" sz="8000" dirty="0" err="1"/>
              <a:t>Soil</a:t>
            </a:r>
            <a:r>
              <a:rPr lang="it-IT" sz="8000" dirty="0"/>
              <a:t> </a:t>
            </a:r>
            <a:r>
              <a:rPr lang="it-IT" sz="8000" dirty="0" err="1"/>
              <a:t>degradation</a:t>
            </a:r>
            <a:endParaRPr lang="it-IT" sz="8000" dirty="0"/>
          </a:p>
          <a:p>
            <a:pPr marL="0" indent="0" algn="ctr">
              <a:buNone/>
            </a:pPr>
            <a:endParaRPr lang="it-IT" dirty="0"/>
          </a:p>
          <a:p>
            <a:pPr marL="0" indent="0" algn="just">
              <a:buNone/>
            </a:pPr>
            <a:r>
              <a:rPr lang="it-IT" sz="9600" b="1" dirty="0">
                <a:solidFill>
                  <a:schemeClr val="accent1"/>
                </a:solidFill>
              </a:rPr>
              <a:t>Economy</a:t>
            </a:r>
          </a:p>
          <a:p>
            <a:pPr algn="just"/>
            <a:r>
              <a:rPr lang="it-IT" sz="8000" dirty="0"/>
              <a:t>High </a:t>
            </a:r>
            <a:r>
              <a:rPr lang="it-IT" sz="8000" dirty="0" err="1"/>
              <a:t>healthcare</a:t>
            </a:r>
            <a:r>
              <a:rPr lang="it-IT" sz="8000" dirty="0"/>
              <a:t> costs</a:t>
            </a:r>
          </a:p>
          <a:p>
            <a:pPr algn="just"/>
            <a:r>
              <a:rPr lang="it-IT" sz="8000" dirty="0" err="1"/>
              <a:t>Economic</a:t>
            </a:r>
            <a:r>
              <a:rPr lang="it-IT" sz="8000" dirty="0"/>
              <a:t> </a:t>
            </a:r>
            <a:r>
              <a:rPr lang="it-IT" sz="8000" dirty="0" err="1"/>
              <a:t>losses</a:t>
            </a:r>
            <a:r>
              <a:rPr lang="it-IT" sz="8000" dirty="0"/>
              <a:t> in </a:t>
            </a:r>
            <a:r>
              <a:rPr lang="it-IT" sz="8000" dirty="0" err="1"/>
              <a:t>various</a:t>
            </a:r>
            <a:r>
              <a:rPr lang="it-IT" sz="8000" dirty="0"/>
              <a:t> </a:t>
            </a:r>
            <a:r>
              <a:rPr lang="it-IT" sz="8000" dirty="0" err="1"/>
              <a:t>sectors</a:t>
            </a:r>
            <a:endParaRPr lang="it-IT" sz="8000" dirty="0"/>
          </a:p>
          <a:p>
            <a:pPr algn="just"/>
            <a:r>
              <a:rPr lang="it-IT" sz="8000" dirty="0" err="1"/>
              <a:t>Significant</a:t>
            </a:r>
            <a:r>
              <a:rPr lang="it-IT" sz="8000" dirty="0"/>
              <a:t> investments for </a:t>
            </a:r>
            <a:r>
              <a:rPr lang="it-IT" sz="8000" dirty="0" err="1"/>
              <a:t>remediation</a:t>
            </a:r>
            <a:endParaRPr lang="it-IT" sz="8000" dirty="0"/>
          </a:p>
        </p:txBody>
      </p:sp>
      <p:pic>
        <p:nvPicPr>
          <p:cNvPr id="7" name="Graphic 6" descr="Heart with pulse with solid fill">
            <a:extLst>
              <a:ext uri="{FF2B5EF4-FFF2-40B4-BE49-F238E27FC236}">
                <a16:creationId xmlns:a16="http://schemas.microsoft.com/office/drawing/2014/main" id="{049D565A-66A1-4124-A6CC-6068DA303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62095" y="2175930"/>
            <a:ext cx="1405469" cy="1405469"/>
          </a:xfrm>
          <a:prstGeom prst="rect">
            <a:avLst/>
          </a:prstGeom>
        </p:spPr>
      </p:pic>
      <p:pic>
        <p:nvPicPr>
          <p:cNvPr id="9" name="Graphic 8" descr="Open hand with plant with solid fill">
            <a:extLst>
              <a:ext uri="{FF2B5EF4-FFF2-40B4-BE49-F238E27FC236}">
                <a16:creationId xmlns:a16="http://schemas.microsoft.com/office/drawing/2014/main" id="{7F97251D-29FF-407D-9A4E-7A9646F3F5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7346" y="3716336"/>
            <a:ext cx="1310218" cy="1310218"/>
          </a:xfrm>
          <a:prstGeom prst="rect">
            <a:avLst/>
          </a:prstGeom>
        </p:spPr>
      </p:pic>
      <p:pic>
        <p:nvPicPr>
          <p:cNvPr id="11" name="Graphic 10" descr="Piggy Bank with solid fill">
            <a:extLst>
              <a:ext uri="{FF2B5EF4-FFF2-40B4-BE49-F238E27FC236}">
                <a16:creationId xmlns:a16="http://schemas.microsoft.com/office/drawing/2014/main" id="{2CCD4CD1-B44A-4154-8382-7C474A1D67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6829" y="5304632"/>
            <a:ext cx="1349904" cy="134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1608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49B4A-65A3-4DA5-A439-624240F62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883" y="939801"/>
            <a:ext cx="11180233" cy="2993496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Can we solve the problem by 2025?</a:t>
            </a:r>
            <a:endParaRPr lang="it-IT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733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F98E-7176-4867-B101-8AE73B6D0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Assumptions</a:t>
            </a:r>
            <a:endParaRPr lang="it-IT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8ED67A-1457-4251-B015-BD32CFF66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Prerequisites for the Application of Climate Solutions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International Cooperation: </a:t>
            </a:r>
            <a:r>
              <a:rPr lang="en-US" dirty="0"/>
              <a:t>Global agreements and the role of multilateral organizations.</a:t>
            </a:r>
          </a:p>
          <a:p>
            <a:r>
              <a:rPr lang="en-US" b="1" dirty="0"/>
              <a:t>Political Commitment: </a:t>
            </a:r>
            <a:r>
              <a:rPr lang="en-US" dirty="0"/>
              <a:t>Political will and favorable laws.</a:t>
            </a:r>
          </a:p>
          <a:p>
            <a:r>
              <a:rPr lang="en-US" b="1" dirty="0"/>
              <a:t>Financial Resources: </a:t>
            </a:r>
            <a:r>
              <a:rPr lang="en-US" dirty="0"/>
              <a:t>Adequate funding and incentives.</a:t>
            </a:r>
          </a:p>
          <a:p>
            <a:r>
              <a:rPr lang="en-US" b="1" dirty="0"/>
              <a:t>Technologies: </a:t>
            </a:r>
            <a:r>
              <a:rPr lang="en-US" dirty="0"/>
              <a:t>Access and Research &amp; Development.</a:t>
            </a:r>
          </a:p>
          <a:p>
            <a:r>
              <a:rPr lang="en-US" b="1" dirty="0"/>
              <a:t>Technical Capabilities: </a:t>
            </a:r>
            <a:r>
              <a:rPr lang="en-US" dirty="0"/>
              <a:t>Adequate skills and infrastructure.</a:t>
            </a:r>
          </a:p>
          <a:p>
            <a:r>
              <a:rPr lang="en-US" b="1" dirty="0"/>
              <a:t>Awareness: </a:t>
            </a:r>
            <a:r>
              <a:rPr lang="en-US" dirty="0"/>
              <a:t>Education and community involvement.</a:t>
            </a:r>
          </a:p>
          <a:p>
            <a:r>
              <a:rPr lang="en-US" b="1" dirty="0"/>
              <a:t>Governance: </a:t>
            </a:r>
            <a:r>
              <a:rPr lang="en-US" dirty="0"/>
              <a:t>Good governance and transparency.</a:t>
            </a:r>
          </a:p>
          <a:p>
            <a:r>
              <a:rPr lang="en-US" b="1" dirty="0"/>
              <a:t>Stability: </a:t>
            </a:r>
            <a:r>
              <a:rPr lang="en-US" dirty="0"/>
              <a:t>Political and economic stability.</a:t>
            </a:r>
          </a:p>
          <a:p>
            <a:r>
              <a:rPr lang="en-US" b="1" dirty="0"/>
              <a:t>Stakeholder Support: </a:t>
            </a:r>
            <a:r>
              <a:rPr lang="en-US" dirty="0"/>
              <a:t>Involvement of governments, private individuals, NGOs and communities.</a:t>
            </a:r>
          </a:p>
          <a:p>
            <a:r>
              <a:rPr lang="en-US" b="1" dirty="0"/>
              <a:t>Climate Emergency: </a:t>
            </a:r>
            <a:r>
              <a:rPr lang="en-US" dirty="0"/>
              <a:t>Declaration of climate emergency.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55076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E4D83-1B6A-43D5-9248-9E4159AB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365126"/>
            <a:ext cx="11032067" cy="104034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Finance: What would happen if it happened today?</a:t>
            </a:r>
            <a:endParaRPr lang="it-IT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A17156-5A70-41DC-8140-5D37E12C2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63" y="1557867"/>
            <a:ext cx="10515600" cy="4178635"/>
          </a:xfrm>
        </p:spPr>
      </p:pic>
    </p:spTree>
    <p:extLst>
      <p:ext uri="{BB962C8B-B14F-4D97-AF65-F5344CB8AC3E}">
        <p14:creationId xmlns:p14="http://schemas.microsoft.com/office/powerpoint/2010/main" val="13045391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D3A1-9C5D-464A-9103-650B50D3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Emission</a:t>
            </a:r>
            <a:r>
              <a:rPr lang="it-IT" b="1" dirty="0"/>
              <a:t> </a:t>
            </a:r>
            <a:r>
              <a:rPr lang="it-IT" b="1" dirty="0" err="1"/>
              <a:t>Reduction</a:t>
            </a:r>
            <a:r>
              <a:rPr lang="it-IT" b="1" dirty="0"/>
              <a:t> Target by Country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A42B96-D1E6-4D40-91C3-A3113973A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827" y="1825625"/>
            <a:ext cx="8932346" cy="4351338"/>
          </a:xfrm>
        </p:spPr>
      </p:pic>
    </p:spTree>
    <p:extLst>
      <p:ext uri="{BB962C8B-B14F-4D97-AF65-F5344CB8AC3E}">
        <p14:creationId xmlns:p14="http://schemas.microsoft.com/office/powerpoint/2010/main" val="1347409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62087-B304-4646-A5C6-68E131F40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Where do we get the money?</a:t>
            </a:r>
            <a:endParaRPr lang="it-IT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362324-54A8-4E47-BAFC-E7998811F5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356" y="1876425"/>
            <a:ext cx="8429553" cy="4351338"/>
          </a:xfrm>
        </p:spPr>
      </p:pic>
    </p:spTree>
    <p:extLst>
      <p:ext uri="{BB962C8B-B14F-4D97-AF65-F5344CB8AC3E}">
        <p14:creationId xmlns:p14="http://schemas.microsoft.com/office/powerpoint/2010/main" val="15790574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79E83-130B-4F77-9994-2924A1C48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long does it take?</a:t>
            </a:r>
            <a:endParaRPr lang="it-IT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D0E9DF-865A-417F-B102-C3EE342BE7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592" y="1884892"/>
            <a:ext cx="8199881" cy="4351338"/>
          </a:xfrm>
        </p:spPr>
      </p:pic>
    </p:spTree>
    <p:extLst>
      <p:ext uri="{BB962C8B-B14F-4D97-AF65-F5344CB8AC3E}">
        <p14:creationId xmlns:p14="http://schemas.microsoft.com/office/powerpoint/2010/main" val="3632320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5D9EC-33E3-4138-910B-127FE89ED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long does it take?</a:t>
            </a:r>
            <a:endParaRPr lang="it-IT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C00A24-B9A9-4152-B94E-EF9C05CEC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389" y="1927225"/>
            <a:ext cx="7294022" cy="4351338"/>
          </a:xfrm>
        </p:spPr>
      </p:pic>
    </p:spTree>
    <p:extLst>
      <p:ext uri="{BB962C8B-B14F-4D97-AF65-F5344CB8AC3E}">
        <p14:creationId xmlns:p14="http://schemas.microsoft.com/office/powerpoint/2010/main" val="2549417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7D9F1-CCAE-47A4-A6CE-46A24D31B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 err="1"/>
              <a:t>Conclusions</a:t>
            </a:r>
            <a:endParaRPr lang="it-I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54EB7-CB1B-48A5-A77F-7F36BFD93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estimated probability of implementing climate solutions by 2025 is lower (30-40%) due to current limitations in terms of political will, financing, technological diffusion and international cooperation.</a:t>
            </a:r>
          </a:p>
          <a:p>
            <a:pPr marL="0" indent="0">
              <a:buNone/>
            </a:pPr>
            <a:r>
              <a:rPr lang="en-US" dirty="0"/>
              <a:t>However, by 2030, with greater global commitment and time to improve these factors, the probability of success increases (60-70%). These estimates are based on a qualitative assessment of current trends and potential future evolutions in key sectors.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902384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39F7F-33A0-4E41-A6CE-AE602B144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C4023-2C9E-494E-947F-B35E9B5E1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  <a:p>
            <a:r>
              <a:rPr lang="it-IT" dirty="0"/>
              <a:t>United Nations Environment </a:t>
            </a:r>
            <a:r>
              <a:rPr lang="it-IT" dirty="0" err="1"/>
              <a:t>Programme</a:t>
            </a:r>
            <a:r>
              <a:rPr lang="it-IT" dirty="0"/>
              <a:t> (UNEP): www.unep.org</a:t>
            </a:r>
          </a:p>
          <a:p>
            <a:r>
              <a:rPr lang="it-IT" dirty="0"/>
              <a:t>World Bank Environment Data: databank.worldbank.org</a:t>
            </a:r>
          </a:p>
          <a:p>
            <a:r>
              <a:rPr lang="it-IT" dirty="0"/>
              <a:t>Food and </a:t>
            </a:r>
            <a:r>
              <a:rPr lang="it-IT" dirty="0" err="1"/>
              <a:t>Agriculture</a:t>
            </a:r>
            <a:r>
              <a:rPr lang="it-IT" dirty="0"/>
              <a:t> Organization (FAO): www.fao.org </a:t>
            </a:r>
          </a:p>
          <a:p>
            <a:r>
              <a:rPr lang="it-IT" dirty="0" err="1"/>
              <a:t>Kaggle</a:t>
            </a:r>
            <a:r>
              <a:rPr lang="it-IT" dirty="0"/>
              <a:t>: </a:t>
            </a:r>
            <a:r>
              <a:rPr lang="it-IT" dirty="0">
                <a:hlinkClick r:id="rId2"/>
              </a:rPr>
              <a:t>www.kaggle.com</a:t>
            </a:r>
            <a:endParaRPr lang="it-IT" dirty="0"/>
          </a:p>
          <a:p>
            <a:r>
              <a:rPr lang="en-US" dirty="0"/>
              <a:t>Global Forest: </a:t>
            </a:r>
            <a:r>
              <a:rPr lang="en-US" dirty="0">
                <a:hlinkClick r:id="rId3"/>
              </a:rPr>
              <a:t>www.globalforestwatch.org</a:t>
            </a:r>
            <a:endParaRPr lang="en-US" dirty="0"/>
          </a:p>
          <a:p>
            <a:r>
              <a:rPr lang="en-US" dirty="0"/>
              <a:t>The World Health Organization (WHO): https://www.who.int/health-topics/environmental-health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84923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10227</TotalTime>
  <Words>416</Words>
  <Application>Microsoft Office PowerPoint</Application>
  <PresentationFormat>Widescreen</PresentationFormat>
  <Paragraphs>92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Arial</vt:lpstr>
      <vt:lpstr>Arial Black</vt:lpstr>
      <vt:lpstr>Calibri</vt:lpstr>
      <vt:lpstr>Calibri Light</vt:lpstr>
      <vt:lpstr>Office Theme</vt:lpstr>
      <vt:lpstr>Global environmental situation</vt:lpstr>
      <vt:lpstr>Current situation</vt:lpstr>
      <vt:lpstr>Can we solve the problem in 1 year?</vt:lpstr>
      <vt:lpstr>Air</vt:lpstr>
      <vt:lpstr>Air Pollution</vt:lpstr>
      <vt:lpstr>Vehicle emissions</vt:lpstr>
      <vt:lpstr>Industrial Pollution</vt:lpstr>
      <vt:lpstr>Energy production</vt:lpstr>
      <vt:lpstr>Agriculture</vt:lpstr>
      <vt:lpstr>Construction</vt:lpstr>
      <vt:lpstr>Water</vt:lpstr>
      <vt:lpstr>Water Global Consumption </vt:lpstr>
      <vt:lpstr>Industry</vt:lpstr>
      <vt:lpstr>Agricoluture </vt:lpstr>
      <vt:lpstr>Earth </vt:lpstr>
      <vt:lpstr>Waste By Type and Continent</vt:lpstr>
      <vt:lpstr>Plastic from 1950 to 2024</vt:lpstr>
      <vt:lpstr>Deforestation</vt:lpstr>
      <vt:lpstr>Agricolture</vt:lpstr>
      <vt:lpstr>Agriculture: Nitrous oxide</vt:lpstr>
      <vt:lpstr>Overall impact</vt:lpstr>
      <vt:lpstr>Can we solve the problem by 2025?</vt:lpstr>
      <vt:lpstr>Assumptions</vt:lpstr>
      <vt:lpstr>Finance: What would happen if it happened today?</vt:lpstr>
      <vt:lpstr>Emission Reduction Target by Country</vt:lpstr>
      <vt:lpstr>Where do we get the money?</vt:lpstr>
      <vt:lpstr>How long does it take?</vt:lpstr>
      <vt:lpstr>How long does it take?</vt:lpstr>
      <vt:lpstr>Conclusions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situation</dc:title>
  <dc:creator>Davide</dc:creator>
  <cp:lastModifiedBy>Davide</cp:lastModifiedBy>
  <cp:revision>116</cp:revision>
  <dcterms:created xsi:type="dcterms:W3CDTF">2024-06-26T11:58:09Z</dcterms:created>
  <dcterms:modified xsi:type="dcterms:W3CDTF">2024-07-11T09:13:37Z</dcterms:modified>
</cp:coreProperties>
</file>